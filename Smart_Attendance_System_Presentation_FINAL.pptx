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1" r:id="rId13"/>
    <p:sldId id="263" r:id="rId14"/>
    <p:sldId id="264" r:id="rId15"/>
    <p:sldId id="265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2" y="1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72A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A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A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72A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2079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3" y="4825"/>
            <a:ext cx="12187555" cy="57150"/>
          </a:xfrm>
          <a:custGeom>
            <a:avLst/>
            <a:gdLst/>
            <a:ahLst/>
            <a:cxnLst/>
            <a:rect l="l" t="t" r="r" b="b"/>
            <a:pathLst>
              <a:path w="12187555" h="57150">
                <a:moveTo>
                  <a:pt x="12187236" y="0"/>
                </a:moveTo>
                <a:lnTo>
                  <a:pt x="0" y="0"/>
                </a:lnTo>
                <a:lnTo>
                  <a:pt x="0" y="57150"/>
                </a:lnTo>
                <a:lnTo>
                  <a:pt x="12187236" y="57150"/>
                </a:lnTo>
                <a:lnTo>
                  <a:pt x="12187236" y="0"/>
                </a:lnTo>
                <a:close/>
              </a:path>
            </a:pathLst>
          </a:custGeom>
          <a:solidFill>
            <a:srgbClr val="072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3" y="4825"/>
            <a:ext cx="12187555" cy="57150"/>
          </a:xfrm>
          <a:custGeom>
            <a:avLst/>
            <a:gdLst/>
            <a:ahLst/>
            <a:cxnLst/>
            <a:rect l="l" t="t" r="r" b="b"/>
            <a:pathLst>
              <a:path w="12187555" h="57150">
                <a:moveTo>
                  <a:pt x="12187236" y="0"/>
                </a:moveTo>
                <a:lnTo>
                  <a:pt x="0" y="0"/>
                </a:lnTo>
                <a:lnTo>
                  <a:pt x="0" y="57150"/>
                </a:lnTo>
                <a:lnTo>
                  <a:pt x="12187236" y="57150"/>
                </a:lnTo>
              </a:path>
            </a:pathLst>
          </a:custGeom>
          <a:ln w="9525">
            <a:solidFill>
              <a:srgbClr val="072A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657975"/>
            <a:ext cx="7986826" cy="2000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763" y="6672262"/>
            <a:ext cx="7953375" cy="186055"/>
          </a:xfrm>
          <a:custGeom>
            <a:avLst/>
            <a:gdLst/>
            <a:ahLst/>
            <a:cxnLst/>
            <a:rect l="l" t="t" r="r" b="b"/>
            <a:pathLst>
              <a:path w="7953375" h="186054">
                <a:moveTo>
                  <a:pt x="7953375" y="0"/>
                </a:moveTo>
                <a:lnTo>
                  <a:pt x="0" y="0"/>
                </a:lnTo>
                <a:lnTo>
                  <a:pt x="0" y="185737"/>
                </a:lnTo>
                <a:lnTo>
                  <a:pt x="7953375" y="185737"/>
                </a:lnTo>
                <a:lnTo>
                  <a:pt x="7953375" y="0"/>
                </a:lnTo>
                <a:close/>
              </a:path>
            </a:pathLst>
          </a:custGeom>
          <a:solidFill>
            <a:srgbClr val="072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63" y="6672262"/>
            <a:ext cx="7953375" cy="186055"/>
          </a:xfrm>
          <a:custGeom>
            <a:avLst/>
            <a:gdLst/>
            <a:ahLst/>
            <a:cxnLst/>
            <a:rect l="l" t="t" r="r" b="b"/>
            <a:pathLst>
              <a:path w="7953375" h="186054">
                <a:moveTo>
                  <a:pt x="7953375" y="185737"/>
                </a:moveTo>
                <a:lnTo>
                  <a:pt x="7953375" y="0"/>
                </a:lnTo>
                <a:lnTo>
                  <a:pt x="0" y="0"/>
                </a:lnTo>
                <a:lnTo>
                  <a:pt x="0" y="185737"/>
                </a:lnTo>
              </a:path>
            </a:pathLst>
          </a:custGeom>
          <a:ln w="9525">
            <a:solidFill>
              <a:srgbClr val="072A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96225" y="6629400"/>
            <a:ext cx="4295775" cy="22860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7958200" y="6672262"/>
            <a:ext cx="4234180" cy="186055"/>
          </a:xfrm>
          <a:custGeom>
            <a:avLst/>
            <a:gdLst/>
            <a:ahLst/>
            <a:cxnLst/>
            <a:rect l="l" t="t" r="r" b="b"/>
            <a:pathLst>
              <a:path w="4234180" h="186054">
                <a:moveTo>
                  <a:pt x="4233799" y="0"/>
                </a:moveTo>
                <a:lnTo>
                  <a:pt x="0" y="0"/>
                </a:lnTo>
                <a:lnTo>
                  <a:pt x="0" y="185737"/>
                </a:lnTo>
                <a:lnTo>
                  <a:pt x="4233799" y="185737"/>
                </a:lnTo>
                <a:lnTo>
                  <a:pt x="4233799" y="0"/>
                </a:lnTo>
                <a:close/>
              </a:path>
            </a:pathLst>
          </a:custGeom>
          <a:solidFill>
            <a:srgbClr val="EE5F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7958200" y="6672262"/>
            <a:ext cx="4234180" cy="186055"/>
          </a:xfrm>
          <a:custGeom>
            <a:avLst/>
            <a:gdLst/>
            <a:ahLst/>
            <a:cxnLst/>
            <a:rect l="l" t="t" r="r" b="b"/>
            <a:pathLst>
              <a:path w="4234180" h="186054">
                <a:moveTo>
                  <a:pt x="4233799" y="0"/>
                </a:moveTo>
                <a:lnTo>
                  <a:pt x="0" y="0"/>
                </a:lnTo>
                <a:lnTo>
                  <a:pt x="0" y="185737"/>
                </a:lnTo>
              </a:path>
            </a:pathLst>
          </a:custGeom>
          <a:ln w="9525">
            <a:solidFill>
              <a:srgbClr val="EE5F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85661"/>
            <a:ext cx="9335770" cy="711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72A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2480" y="1876107"/>
            <a:ext cx="10474960" cy="3319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05</a:t>
            </a:r>
            <a:r>
              <a:rPr spc="20" dirty="0"/>
              <a:t> </a:t>
            </a:r>
            <a:r>
              <a:rPr spc="-10" dirty="0"/>
              <a:t>September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62640" y="6689645"/>
            <a:ext cx="1116965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29fed93-76c3-4798-81b8-a81e8a8402f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180975"/>
            <a:ext cx="1866900" cy="187642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327400" y="748119"/>
            <a:ext cx="6142355" cy="110426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/>
              <a:t>PROJECT</a:t>
            </a:r>
            <a:r>
              <a:rPr spc="-165" dirty="0"/>
              <a:t> </a:t>
            </a:r>
            <a:r>
              <a:rPr spc="-20" dirty="0"/>
              <a:t>TITLE</a:t>
            </a:r>
          </a:p>
          <a:p>
            <a:pPr marL="40005">
              <a:lnSpc>
                <a:spcPct val="100000"/>
              </a:lnSpc>
              <a:spcBef>
                <a:spcPts val="750"/>
              </a:spcBef>
            </a:pPr>
            <a:r>
              <a:rPr sz="2400" b="0" dirty="0">
                <a:solidFill>
                  <a:srgbClr val="EE5F18"/>
                </a:solidFill>
                <a:latin typeface="Calibri"/>
                <a:cs typeface="Calibri"/>
              </a:rPr>
              <a:t>Smart</a:t>
            </a:r>
            <a:r>
              <a:rPr sz="2400" b="0" spc="-60" dirty="0">
                <a:solidFill>
                  <a:srgbClr val="EE5F18"/>
                </a:solidFill>
                <a:latin typeface="Calibri"/>
                <a:cs typeface="Calibri"/>
              </a:rPr>
              <a:t> </a:t>
            </a:r>
            <a:r>
              <a:rPr sz="2400" b="0" spc="-25" dirty="0">
                <a:solidFill>
                  <a:srgbClr val="EE5F18"/>
                </a:solidFill>
                <a:latin typeface="Calibri"/>
                <a:cs typeface="Calibri"/>
              </a:rPr>
              <a:t>Attendance</a:t>
            </a:r>
            <a:r>
              <a:rPr sz="2400" b="0" spc="-70" dirty="0">
                <a:solidFill>
                  <a:srgbClr val="EE5F18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EE5F18"/>
                </a:solidFill>
                <a:latin typeface="Calibri"/>
                <a:cs typeface="Calibri"/>
              </a:rPr>
              <a:t>System</a:t>
            </a:r>
            <a:r>
              <a:rPr sz="2400" b="0" spc="-40" dirty="0">
                <a:solidFill>
                  <a:srgbClr val="EE5F18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EE5F18"/>
                </a:solidFill>
                <a:latin typeface="Calibri"/>
                <a:cs typeface="Calibri"/>
              </a:rPr>
              <a:t>Using</a:t>
            </a:r>
            <a:r>
              <a:rPr sz="2400" b="0" spc="-80" dirty="0">
                <a:solidFill>
                  <a:srgbClr val="EE5F18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EE5F18"/>
                </a:solidFill>
                <a:latin typeface="Calibri"/>
                <a:cs typeface="Calibri"/>
              </a:rPr>
              <a:t>Face</a:t>
            </a:r>
            <a:r>
              <a:rPr sz="2400" b="0" spc="-70" dirty="0">
                <a:solidFill>
                  <a:srgbClr val="EE5F18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EE5F18"/>
                </a:solidFill>
                <a:latin typeface="Calibri"/>
                <a:cs typeface="Calibri"/>
              </a:rPr>
              <a:t>Recognition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48008" y="1932618"/>
            <a:ext cx="7920355" cy="101600"/>
            <a:chOff x="3248008" y="1932618"/>
            <a:chExt cx="7920355" cy="101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8008" y="1932618"/>
              <a:ext cx="7920134" cy="101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81425" y="1947925"/>
              <a:ext cx="7858125" cy="28575"/>
            </a:xfrm>
            <a:custGeom>
              <a:avLst/>
              <a:gdLst/>
              <a:ahLst/>
              <a:cxnLst/>
              <a:rect l="l" t="t" r="r" b="b"/>
              <a:pathLst>
                <a:path w="7858125" h="28575">
                  <a:moveTo>
                    <a:pt x="78581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7858125" y="28575"/>
                  </a:lnTo>
                  <a:lnTo>
                    <a:pt x="78581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1425" y="1947925"/>
              <a:ext cx="7858125" cy="28575"/>
            </a:xfrm>
            <a:custGeom>
              <a:avLst/>
              <a:gdLst/>
              <a:ahLst/>
              <a:cxnLst/>
              <a:rect l="l" t="t" r="r" b="b"/>
              <a:pathLst>
                <a:path w="7858125" h="28575">
                  <a:moveTo>
                    <a:pt x="0" y="28575"/>
                  </a:moveTo>
                  <a:lnTo>
                    <a:pt x="7858125" y="28575"/>
                  </a:lnTo>
                  <a:lnTo>
                    <a:pt x="7858125" y="0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581342" y="2224341"/>
            <a:ext cx="1711960" cy="571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-3175" algn="ctr">
              <a:lnSpc>
                <a:spcPct val="99100"/>
              </a:lnSpc>
              <a:spcBef>
                <a:spcPts val="114"/>
              </a:spcBef>
            </a:pPr>
            <a:r>
              <a:rPr sz="1200" b="1" dirty="0">
                <a:solidFill>
                  <a:srgbClr val="072A52"/>
                </a:solidFill>
                <a:latin typeface="Calibri"/>
                <a:cs typeface="Calibri"/>
              </a:rPr>
              <a:t>SHRI</a:t>
            </a:r>
            <a:r>
              <a:rPr sz="1200" b="1" spc="5" dirty="0">
                <a:solidFill>
                  <a:srgbClr val="072A5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72A52"/>
                </a:solidFill>
                <a:latin typeface="Calibri"/>
                <a:cs typeface="Calibri"/>
              </a:rPr>
              <a:t>RAMDEOBABA COLLEGE</a:t>
            </a:r>
            <a:r>
              <a:rPr sz="1200" b="1" spc="-25" dirty="0">
                <a:solidFill>
                  <a:srgbClr val="072A52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72A52"/>
                </a:solidFill>
                <a:latin typeface="Calibri"/>
                <a:cs typeface="Calibri"/>
              </a:rPr>
              <a:t>OF</a:t>
            </a:r>
            <a:r>
              <a:rPr sz="1200" b="1" spc="15" dirty="0">
                <a:solidFill>
                  <a:srgbClr val="072A5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72A52"/>
                </a:solidFill>
                <a:latin typeface="Calibri"/>
                <a:cs typeface="Calibri"/>
              </a:rPr>
              <a:t>ENGINEERING </a:t>
            </a:r>
            <a:r>
              <a:rPr sz="1200" b="1" dirty="0">
                <a:solidFill>
                  <a:srgbClr val="072A52"/>
                </a:solidFill>
                <a:latin typeface="Calibri"/>
                <a:cs typeface="Calibri"/>
              </a:rPr>
              <a:t>AND</a:t>
            </a:r>
            <a:r>
              <a:rPr sz="1200" b="1" spc="-20" dirty="0">
                <a:solidFill>
                  <a:srgbClr val="072A52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72A52"/>
                </a:solid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342" y="3139757"/>
            <a:ext cx="111887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84455">
              <a:lnSpc>
                <a:spcPts val="2860"/>
              </a:lnSpc>
              <a:spcBef>
                <a:spcPts val="215"/>
              </a:spcBef>
            </a:pPr>
            <a:r>
              <a:rPr sz="2400" b="1" spc="-10" dirty="0">
                <a:solidFill>
                  <a:srgbClr val="072A52"/>
                </a:solidFill>
                <a:latin typeface="Calibri"/>
                <a:cs typeface="Calibri"/>
              </a:rPr>
              <a:t>MINOR </a:t>
            </a:r>
            <a:r>
              <a:rPr sz="2400" b="1" spc="-25" dirty="0">
                <a:solidFill>
                  <a:srgbClr val="072A52"/>
                </a:solidFill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70503"/>
            <a:ext cx="12192000" cy="6830059"/>
            <a:chOff x="0" y="28511"/>
            <a:chExt cx="12192000" cy="683005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553200"/>
              <a:ext cx="7977301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6562725"/>
              <a:ext cx="7953375" cy="266700"/>
            </a:xfrm>
            <a:custGeom>
              <a:avLst/>
              <a:gdLst/>
              <a:ahLst/>
              <a:cxnLst/>
              <a:rect l="l" t="t" r="r" b="b"/>
              <a:pathLst>
                <a:path w="7953375" h="266700">
                  <a:moveTo>
                    <a:pt x="795337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7953375" y="266700"/>
                  </a:lnTo>
                  <a:lnTo>
                    <a:pt x="7953375" y="0"/>
                  </a:lnTo>
                  <a:close/>
                </a:path>
              </a:pathLst>
            </a:custGeom>
            <a:solidFill>
              <a:srgbClr val="07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6225" y="6524625"/>
              <a:ext cx="4295775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53375" y="6562725"/>
              <a:ext cx="4238625" cy="276225"/>
            </a:xfrm>
            <a:custGeom>
              <a:avLst/>
              <a:gdLst/>
              <a:ahLst/>
              <a:cxnLst/>
              <a:rect l="l" t="t" r="r" b="b"/>
              <a:pathLst>
                <a:path w="4238625" h="276225">
                  <a:moveTo>
                    <a:pt x="423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238625" y="276225"/>
                  </a:lnTo>
                  <a:lnTo>
                    <a:pt x="42386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1275" y="28511"/>
              <a:ext cx="147637" cy="65866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57475" y="66675"/>
              <a:ext cx="0" cy="6456680"/>
            </a:xfrm>
            <a:custGeom>
              <a:avLst/>
              <a:gdLst/>
              <a:ahLst/>
              <a:cxnLst/>
              <a:rect l="l" t="t" r="r" b="b"/>
              <a:pathLst>
                <a:path h="6456680">
                  <a:moveTo>
                    <a:pt x="0" y="0"/>
                  </a:moveTo>
                  <a:lnTo>
                    <a:pt x="0" y="6456667"/>
                  </a:lnTo>
                </a:path>
              </a:pathLst>
            </a:custGeom>
            <a:ln w="38100">
              <a:solidFill>
                <a:srgbClr val="1737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5344" y="4696205"/>
            <a:ext cx="1053465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5"/>
              </a:spcBef>
            </a:pPr>
            <a:r>
              <a:rPr sz="2400" b="1" spc="-10" dirty="0">
                <a:solidFill>
                  <a:srgbClr val="072A52"/>
                </a:solidFill>
                <a:latin typeface="Calibri"/>
                <a:cs typeface="Calibri"/>
              </a:rPr>
              <a:t>COURSE</a:t>
            </a:r>
            <a:endParaRPr sz="2400">
              <a:latin typeface="Calibri"/>
              <a:cs typeface="Calibri"/>
            </a:endParaRPr>
          </a:p>
          <a:p>
            <a:pPr marL="3175" algn="ctr">
              <a:lnSpc>
                <a:spcPts val="2865"/>
              </a:lnSpc>
            </a:pPr>
            <a:r>
              <a:rPr sz="2400" b="1" spc="-20" dirty="0">
                <a:solidFill>
                  <a:srgbClr val="072A52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3879" y="2569527"/>
            <a:ext cx="546989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30" dirty="0">
                <a:latin typeface="Calibri"/>
                <a:cs typeface="Calibri"/>
              </a:rPr>
              <a:t>Team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Members: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Wankhede,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Tanmay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ts val="2865"/>
              </a:lnSpc>
            </a:pPr>
            <a:r>
              <a:rPr sz="2400" spc="-10" dirty="0">
                <a:latin typeface="Calibri"/>
                <a:cs typeface="Calibri"/>
              </a:rPr>
              <a:t>Mundada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870"/>
              </a:lnSpc>
              <a:spcBef>
                <a:spcPts val="5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Guide: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Prof.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Poonam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Meghare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870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ts val="2870"/>
              </a:lnSpc>
              <a:spcBef>
                <a:spcPts val="50"/>
              </a:spcBef>
            </a:pPr>
            <a:r>
              <a:rPr sz="2400" dirty="0">
                <a:latin typeface="Calibri"/>
                <a:cs typeface="Calibri"/>
              </a:rPr>
              <a:t>Engineering, Shri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Ramdeobaba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ts val="2855"/>
              </a:lnSpc>
            </a:pPr>
            <a:r>
              <a:rPr sz="2400" dirty="0">
                <a:latin typeface="Calibri"/>
                <a:cs typeface="Calibri"/>
              </a:rPr>
              <a:t>Engineering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Nagpur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ts val="2865"/>
              </a:lnSpc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Academic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Year: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2026-</a:t>
            </a:r>
            <a:r>
              <a:rPr sz="2400" spc="-25" dirty="0">
                <a:latin typeface="Calibri"/>
                <a:cs typeface="Calibri"/>
              </a:rPr>
              <a:t>27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180364" y="6676701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1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6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95" dirty="0"/>
              <a:t> </a:t>
            </a:r>
            <a:r>
              <a:rPr spc="-5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6275" y="761936"/>
            <a:ext cx="776605" cy="167005"/>
            <a:chOff x="676275" y="761936"/>
            <a:chExt cx="776605" cy="167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761936"/>
              <a:ext cx="776287" cy="1666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0875" y="85725"/>
            <a:ext cx="1247775" cy="1257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2950" y="1019006"/>
            <a:ext cx="10067925" cy="53219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Manual attendance systems are time-consuming, prone to human error, and difficult to manage efficiently in classrooms and institutions.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Problems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Time-consuming process: Calling out names or signing registers consumes valuable class time.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Human errors: Manual records may contain incorrect entries, duplicate records, or missing attendance.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Proxy attendance: It is difficult to verify whether the actual student is present.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Difficult record management: Maintaining, searching, and updating attendance records manually is cumbersome.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Limited security: Repeated failed recognition attempts need a warning mechanism to discourage unauthorized access.</a:t>
            </a:r>
          </a:p>
          <a:p>
            <a:pPr lvl="0"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</a:rPr>
              <a:t>Need: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smart, face-recognition-based attendance system that automates attendance recording, provides security warnings, and enables centralized record management through an admin panel</a:t>
            </a:r>
            <a:r>
              <a:rPr lang="en-IN" sz="2400" dirty="0"/>
              <a:t>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2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6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30"/>
              </a:spcBef>
            </a:pPr>
            <a:r>
              <a:rPr dirty="0"/>
              <a:t>EXISTING</a:t>
            </a:r>
            <a:r>
              <a:rPr spc="-80" dirty="0"/>
              <a:t> </a:t>
            </a:r>
            <a:r>
              <a:rPr dirty="0"/>
              <a:t>SOLUTION</a:t>
            </a:r>
            <a:r>
              <a:rPr spc="-80" dirty="0"/>
              <a:t> </a:t>
            </a:r>
            <a:r>
              <a:rPr dirty="0"/>
              <a:t>/</a:t>
            </a:r>
            <a:r>
              <a:rPr spc="-85" dirty="0"/>
              <a:t> </a:t>
            </a:r>
            <a:r>
              <a:rPr spc="-25" dirty="0"/>
              <a:t>LITERATURE</a:t>
            </a:r>
            <a:r>
              <a:rPr spc="-110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6275" y="761936"/>
            <a:ext cx="776605" cy="167005"/>
            <a:chOff x="676275" y="761936"/>
            <a:chExt cx="776605" cy="167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761936"/>
              <a:ext cx="776287" cy="1666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0875" y="180975"/>
            <a:ext cx="1247775" cy="1257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8187" y="1219200"/>
            <a:ext cx="9853613" cy="53052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 Traditional Manual Attendance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Attendance is recorded using registers or roll calls.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Simple to implement but time-consuming and prone to human error.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RFID / Smart Card-Based Systems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Students mark attendance using ID cards.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Faster than manual methods, but cards can be shared or misplaced.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3. Fingerprint-Based Attendance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Uses biometric verification to identify students.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Requires physical contact and dedicated scanning hardware.</a:t>
            </a:r>
          </a:p>
          <a:p>
            <a:pPr lvl="0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Gap / Motivation</a:t>
            </a:r>
          </a:p>
          <a:p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simple, low-cost desktop solution is needed to combine face recognition, automatic attendance recording, failed-attempt warnings, and an admin panel for managing records.</a:t>
            </a:r>
          </a:p>
          <a:p>
            <a:pPr lvl="0"/>
            <a:endParaRPr lang="en-IN" sz="240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3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6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-35" dirty="0"/>
              <a:t> </a:t>
            </a:r>
            <a:r>
              <a:rPr spc="-10" dirty="0"/>
              <a:t>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6275" y="761936"/>
            <a:ext cx="776605" cy="167005"/>
            <a:chOff x="676275" y="761936"/>
            <a:chExt cx="776605" cy="167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761936"/>
              <a:ext cx="776287" cy="1666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50" y="180975"/>
            <a:ext cx="1333500" cy="13430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2335" y="1746186"/>
            <a:ext cx="10008235" cy="33204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542925" indent="-343535">
              <a:lnSpc>
                <a:spcPts val="2860"/>
              </a:lnSpc>
              <a:spcBef>
                <a:spcPts val="2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facial recognition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2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Capture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video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webcam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OpenCV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65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70"/>
              </a:lnSpc>
              <a:spcBef>
                <a:spcPts val="4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automatically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student's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number,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ts val="2855"/>
              </a:lnSpc>
            </a:pPr>
            <a:r>
              <a:rPr sz="2400" dirty="0">
                <a:latin typeface="Calibri"/>
                <a:cs typeface="Calibri"/>
              </a:rPr>
              <a:t>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65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daily/monthly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reports</a:t>
            </a:r>
            <a:endParaRPr sz="2400" dirty="0">
              <a:latin typeface="Calibri"/>
              <a:cs typeface="Calibri"/>
            </a:endParaRPr>
          </a:p>
          <a:p>
            <a:pPr marL="355600" marR="384810" indent="-343535">
              <a:lnSpc>
                <a:spcPts val="2860"/>
              </a:lnSpc>
              <a:spcBef>
                <a:spcPts val="16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Innovation: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contactless,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real-time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reduced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effort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4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6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6275" y="761936"/>
            <a:ext cx="776605" cy="167005"/>
            <a:chOff x="676275" y="761936"/>
            <a:chExt cx="776605" cy="167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761936"/>
              <a:ext cx="776287" cy="1666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50" y="104775"/>
            <a:ext cx="1381125" cy="14001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2480" y="1767141"/>
            <a:ext cx="5397500" cy="295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Automate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mark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65"/>
              </a:lnSpc>
            </a:pP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intervention</a:t>
            </a:r>
            <a:endParaRPr sz="2400">
              <a:latin typeface="Calibri"/>
              <a:cs typeface="Calibri"/>
            </a:endParaRPr>
          </a:p>
          <a:p>
            <a:pPr marL="355600" marR="293370" indent="-343535">
              <a:lnSpc>
                <a:spcPts val="2850"/>
              </a:lnSpc>
              <a:spcBef>
                <a:spcPts val="17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Eliminate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proxy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identify students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facial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3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Maintain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accurate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55"/>
              </a:lnSpc>
            </a:pP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65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2400" spc="-10" dirty="0">
                <a:latin typeface="Calibri"/>
                <a:cs typeface="Calibri"/>
              </a:rPr>
              <a:t>percentage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daily/monthly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5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7080" cy="121285"/>
            <a:chOff x="0" y="0"/>
            <a:chExt cx="12197080" cy="121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1207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3" y="4825"/>
              <a:ext cx="12187555" cy="57150"/>
            </a:xfrm>
            <a:custGeom>
              <a:avLst/>
              <a:gdLst/>
              <a:ahLst/>
              <a:cxnLst/>
              <a:rect l="l" t="t" r="r" b="b"/>
              <a:pathLst>
                <a:path w="12187555" h="57150">
                  <a:moveTo>
                    <a:pt x="12187236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2187236" y="5715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07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3" y="4825"/>
              <a:ext cx="12187555" cy="57150"/>
            </a:xfrm>
            <a:custGeom>
              <a:avLst/>
              <a:gdLst/>
              <a:ahLst/>
              <a:cxnLst/>
              <a:rect l="l" t="t" r="r" b="b"/>
              <a:pathLst>
                <a:path w="12187555" h="57150">
                  <a:moveTo>
                    <a:pt x="12187236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2187236" y="57150"/>
                  </a:lnTo>
                </a:path>
              </a:pathLst>
            </a:custGeom>
            <a:ln w="9525">
              <a:solidFill>
                <a:srgbClr val="072A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78739" y="85661"/>
            <a:ext cx="9335770" cy="602793"/>
          </a:xfrm>
          <a:prstGeom prst="rect">
            <a:avLst/>
          </a:prstGeom>
        </p:spPr>
        <p:txBody>
          <a:bodyPr vert="horz" wrap="square" lIns="0" tIns="109283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       </a:t>
            </a:r>
            <a:r>
              <a:rPr spc="-10" dirty="0"/>
              <a:t>SYSTEM</a:t>
            </a:r>
            <a:r>
              <a:rPr spc="-110" dirty="0"/>
              <a:t> </a:t>
            </a:r>
            <a:r>
              <a:rPr spc="-10" dirty="0"/>
              <a:t>ARCHITECTURE</a:t>
            </a:r>
            <a:r>
              <a:rPr spc="-60" dirty="0"/>
              <a:t> </a:t>
            </a:r>
            <a:r>
              <a:rPr dirty="0"/>
              <a:t>/</a:t>
            </a:r>
            <a:r>
              <a:rPr spc="-100" dirty="0"/>
              <a:t> </a:t>
            </a:r>
            <a:r>
              <a:rPr spc="-10" dirty="0"/>
              <a:t>METHODOLOGY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704675" y="789717"/>
            <a:ext cx="720090" cy="120650"/>
            <a:chOff x="704675" y="789717"/>
            <a:chExt cx="720090" cy="12065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 descr="d29fed93-76c3-4798-81b8-a81e8a8402f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15625" y="180975"/>
            <a:ext cx="1419225" cy="14382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591300"/>
            <a:ext cx="12197080" cy="271780"/>
            <a:chOff x="0" y="6591300"/>
            <a:chExt cx="12197080" cy="2717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657975"/>
              <a:ext cx="7986826" cy="200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763" y="6672262"/>
              <a:ext cx="7953375" cy="186055"/>
            </a:xfrm>
            <a:custGeom>
              <a:avLst/>
              <a:gdLst/>
              <a:ahLst/>
              <a:cxnLst/>
              <a:rect l="l" t="t" r="r" b="b"/>
              <a:pathLst>
                <a:path w="7953375" h="186054">
                  <a:moveTo>
                    <a:pt x="7953375" y="0"/>
                  </a:moveTo>
                  <a:lnTo>
                    <a:pt x="0" y="0"/>
                  </a:lnTo>
                  <a:lnTo>
                    <a:pt x="0" y="185737"/>
                  </a:lnTo>
                  <a:lnTo>
                    <a:pt x="7953375" y="185737"/>
                  </a:lnTo>
                  <a:lnTo>
                    <a:pt x="7953375" y="0"/>
                  </a:lnTo>
                  <a:close/>
                </a:path>
              </a:pathLst>
            </a:custGeom>
            <a:solidFill>
              <a:srgbClr val="07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63" y="6672262"/>
              <a:ext cx="7953375" cy="186055"/>
            </a:xfrm>
            <a:custGeom>
              <a:avLst/>
              <a:gdLst/>
              <a:ahLst/>
              <a:cxnLst/>
              <a:rect l="l" t="t" r="r" b="b"/>
              <a:pathLst>
                <a:path w="7953375" h="186054">
                  <a:moveTo>
                    <a:pt x="7953375" y="185737"/>
                  </a:moveTo>
                  <a:lnTo>
                    <a:pt x="7953375" y="0"/>
                  </a:lnTo>
                  <a:lnTo>
                    <a:pt x="0" y="0"/>
                  </a:lnTo>
                  <a:lnTo>
                    <a:pt x="0" y="185737"/>
                  </a:lnTo>
                </a:path>
              </a:pathLst>
            </a:custGeom>
            <a:ln w="9525">
              <a:solidFill>
                <a:srgbClr val="072A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96225" y="6591300"/>
              <a:ext cx="4295775" cy="2667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58201" y="6634162"/>
              <a:ext cx="4234180" cy="190500"/>
            </a:xfrm>
            <a:custGeom>
              <a:avLst/>
              <a:gdLst/>
              <a:ahLst/>
              <a:cxnLst/>
              <a:rect l="l" t="t" r="r" b="b"/>
              <a:pathLst>
                <a:path w="4234180" h="190500">
                  <a:moveTo>
                    <a:pt x="4233799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4233799" y="190500"/>
                  </a:lnTo>
                  <a:lnTo>
                    <a:pt x="4233799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58201" y="6634162"/>
              <a:ext cx="4234180" cy="190500"/>
            </a:xfrm>
            <a:custGeom>
              <a:avLst/>
              <a:gdLst/>
              <a:ahLst/>
              <a:cxnLst/>
              <a:rect l="l" t="t" r="r" b="b"/>
              <a:pathLst>
                <a:path w="4234180" h="190500">
                  <a:moveTo>
                    <a:pt x="4233799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4233799" y="190500"/>
                  </a:lnTo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6610350"/>
              <a:ext cx="8005826" cy="2476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6648450"/>
              <a:ext cx="7953375" cy="142875"/>
            </a:xfrm>
            <a:custGeom>
              <a:avLst/>
              <a:gdLst/>
              <a:ahLst/>
              <a:cxnLst/>
              <a:rect l="l" t="t" r="r" b="b"/>
              <a:pathLst>
                <a:path w="7953375" h="142875">
                  <a:moveTo>
                    <a:pt x="7953375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7953375" y="142875"/>
                  </a:lnTo>
                  <a:lnTo>
                    <a:pt x="7953375" y="0"/>
                  </a:lnTo>
                  <a:close/>
                </a:path>
              </a:pathLst>
            </a:custGeom>
            <a:solidFill>
              <a:srgbClr val="07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6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  <p:pic>
        <p:nvPicPr>
          <p:cNvPr id="25" name="Picture 24" descr="The image illustrates a facial recognition system for student attendance, featuring user interface, webcam input, OpenCV processing, Python data handling, and SQLite database storage.&#10;&#10;AI-generated content may be incorrect.">
            <a:extLst>
              <a:ext uri="{FF2B5EF4-FFF2-40B4-BE49-F238E27FC236}">
                <a16:creationId xmlns:a16="http://schemas.microsoft.com/office/drawing/2014/main" id="{07924DCD-B2B4-7B75-BBD0-CED2DAE1196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78" t="1536" r="3334" b="162"/>
          <a:stretch>
            <a:fillRect/>
          </a:stretch>
        </p:blipFill>
        <p:spPr>
          <a:xfrm>
            <a:off x="1482089" y="751710"/>
            <a:ext cx="8153400" cy="5734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85661"/>
            <a:ext cx="9335770" cy="565988"/>
          </a:xfrm>
          <a:prstGeom prst="rect">
            <a:avLst/>
          </a:prstGeom>
        </p:spPr>
        <p:txBody>
          <a:bodyPr vert="horz" wrap="square" lIns="0" tIns="72834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lang="en-IN" spc="-40" dirty="0"/>
              <a:t>     </a:t>
            </a:r>
            <a:r>
              <a:rPr spc="-40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4675" y="789717"/>
            <a:ext cx="720090" cy="120650"/>
            <a:chOff x="704675" y="789717"/>
            <a:chExt cx="720090" cy="120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125" y="180975"/>
            <a:ext cx="1533525" cy="15430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4674" y="1113942"/>
            <a:ext cx="10191925" cy="4630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/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</a:rPr>
              <a:t>1. Development Environment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Programming language: Python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IDE: Visual Studio Code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Libraries: OpenCV, NumPy,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Database: SQLite</a:t>
            </a:r>
          </a:p>
          <a:p>
            <a:pPr lvl="0"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u="sng" dirty="0">
                <a:latin typeface="Arial" panose="020B0604020202020204" pitchFamily="34" charset="0"/>
                <a:cs typeface="Arial" panose="020B0604020202020204" pitchFamily="34" charset="0"/>
              </a:rPr>
              <a:t>2. Module Implementation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Student Registration: Enter and store student details.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Face Capture: Capture facial images using a webcam.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Face Detection: Detect faces using the Haar Cascade classifier.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Face Recognition: Identify registered students using the implemented recognition logic.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Attendance Management: Store attendance records with date and time in the SQLite database.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Admin Panel: Access student and attendance records through a password-protected interface.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7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73D3-DB2F-F714-AFCE-8DF7C1BB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83B7DEA-5828-B843-17C4-388C28B70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85661"/>
            <a:ext cx="9335770" cy="565988"/>
          </a:xfrm>
          <a:prstGeom prst="rect">
            <a:avLst/>
          </a:prstGeom>
        </p:spPr>
        <p:txBody>
          <a:bodyPr vert="horz" wrap="square" lIns="0" tIns="72834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lang="en-IN" spc="-40" dirty="0"/>
              <a:t>     </a:t>
            </a:r>
            <a:r>
              <a:rPr spc="-40" dirty="0"/>
              <a:t>IMPLEMENTATION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010E86F-3534-471C-4184-9B0AE574AEE3}"/>
              </a:ext>
            </a:extLst>
          </p:cNvPr>
          <p:cNvGrpSpPr/>
          <p:nvPr/>
        </p:nvGrpSpPr>
        <p:grpSpPr>
          <a:xfrm>
            <a:off x="704675" y="789717"/>
            <a:ext cx="720090" cy="120650"/>
            <a:chOff x="704675" y="789717"/>
            <a:chExt cx="720090" cy="12065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471F913-D459-B2DB-9370-FFBBF480091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9D9F5A-2DC1-5736-85EA-146DF58895DD}"/>
                </a:ext>
              </a:extLst>
            </p:cNvPr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254276E-8432-8975-503B-A47D190E631B}"/>
                </a:ext>
              </a:extLst>
            </p:cNvPr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>
            <a:extLst>
              <a:ext uri="{FF2B5EF4-FFF2-40B4-BE49-F238E27FC236}">
                <a16:creationId xmlns:a16="http://schemas.microsoft.com/office/drawing/2014/main" id="{F5FAD2B5-AC46-2823-3366-CBE77D177A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125" y="180975"/>
            <a:ext cx="1533525" cy="1543050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C4E92848-50AB-9574-CA2D-55262CC6756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C92FC5F-5E51-2FF3-A844-7F5953559FF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8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  <p:pic>
        <p:nvPicPr>
          <p:cNvPr id="12" name="Picture 11" descr="The diagram illustrates a sequence of steps for a Python application that registers students, captures their faces, recognizes them via webcam, and displays their attendance in an admin panel.&#10;&#10;AI-generated content may be incorrect.">
            <a:extLst>
              <a:ext uri="{FF2B5EF4-FFF2-40B4-BE49-F238E27FC236}">
                <a16:creationId xmlns:a16="http://schemas.microsoft.com/office/drawing/2014/main" id="{05CEF21B-067D-1AAE-5E32-6D503ECA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956408"/>
            <a:ext cx="7872413" cy="42264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298FB5-A299-4BBF-E5C9-E70AFCC69C8F}"/>
              </a:ext>
            </a:extLst>
          </p:cNvPr>
          <p:cNvSpPr txBox="1"/>
          <p:nvPr/>
        </p:nvSpPr>
        <p:spPr>
          <a:xfrm>
            <a:off x="533400" y="5294955"/>
            <a:ext cx="78724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u="sng" dirty="0"/>
              <a:t>4. Testing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application startup and GUI navigation.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Tested student registration and face capture.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Checked face recognition and attendance recording.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33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lide_11.png">
            <a:extLst>
              <a:ext uri="{FF2B5EF4-FFF2-40B4-BE49-F238E27FC236}">
                <a16:creationId xmlns:a16="http://schemas.microsoft.com/office/drawing/2014/main" id="{52855A89-FBE7-6204-EEE5-17CD37C9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00" r="6666" b="17778"/>
          <a:stretch>
            <a:fillRect/>
          </a:stretch>
        </p:blipFill>
        <p:spPr>
          <a:xfrm>
            <a:off x="152400" y="1905000"/>
            <a:ext cx="8534400" cy="4267200"/>
          </a:xfrm>
          <a:prstGeom prst="rect">
            <a:avLst/>
          </a:prstGeom>
        </p:spPr>
      </p:pic>
      <p:pic>
        <p:nvPicPr>
          <p:cNvPr id="7" name="Picture 6" descr="TECHNOLOGY STACK &amp; LIBRARIES&#10;&#10;AI-generated content may be incorrect.">
            <a:extLst>
              <a:ext uri="{FF2B5EF4-FFF2-40B4-BE49-F238E27FC236}">
                <a16:creationId xmlns:a16="http://schemas.microsoft.com/office/drawing/2014/main" id="{E72C1867-C792-8631-C5E0-BDE6B7F6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1000"/>
            <a:ext cx="6340389" cy="1127858"/>
          </a:xfrm>
          <a:prstGeom prst="rect">
            <a:avLst/>
          </a:prstGeom>
        </p:spPr>
      </p:pic>
      <p:pic>
        <p:nvPicPr>
          <p:cNvPr id="9" name="object 7" descr="d29fed93-76c3-4798-81b8-a81e8a8402fd.png">
            <a:extLst>
              <a:ext uri="{FF2B5EF4-FFF2-40B4-BE49-F238E27FC236}">
                <a16:creationId xmlns:a16="http://schemas.microsoft.com/office/drawing/2014/main" id="{E1413821-57FE-3DD1-2A5F-3B7AC5797CD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73404"/>
            <a:ext cx="15335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1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diagram illustrates a process for student attendance tracking using facial recognition, starting from student registration, capturing webcam frames, and ending with admin reports.&#10;&#10;AI-generated content may be incorrect.">
            <a:extLst>
              <a:ext uri="{FF2B5EF4-FFF2-40B4-BE49-F238E27FC236}">
                <a16:creationId xmlns:a16="http://schemas.microsoft.com/office/drawing/2014/main" id="{34AC79C7-6A6E-2F7F-0440-7EB50113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28800"/>
            <a:ext cx="8116003" cy="4397121"/>
          </a:xfrm>
          <a:prstGeom prst="rect">
            <a:avLst/>
          </a:prstGeom>
        </p:spPr>
      </p:pic>
      <p:pic>
        <p:nvPicPr>
          <p:cNvPr id="7" name="Picture 6" descr="The image depicts a flowchart or diagram that transitions from a student registration process to an attendance report, likely within an educational or administrative system.&#10;&#10;AI-generated content may be incorrect.">
            <a:extLst>
              <a:ext uri="{FF2B5EF4-FFF2-40B4-BE49-F238E27FC236}">
                <a16:creationId xmlns:a16="http://schemas.microsoft.com/office/drawing/2014/main" id="{A2591E6D-7DC7-297F-83B5-8DB31F8A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1000"/>
            <a:ext cx="6675698" cy="1112616"/>
          </a:xfrm>
          <a:prstGeom prst="rect">
            <a:avLst/>
          </a:prstGeom>
        </p:spPr>
      </p:pic>
      <p:pic>
        <p:nvPicPr>
          <p:cNvPr id="9" name="object 7" descr="d29fed93-76c3-4798-81b8-a81e8a8402fd.png">
            <a:extLst>
              <a:ext uri="{FF2B5EF4-FFF2-40B4-BE49-F238E27FC236}">
                <a16:creationId xmlns:a16="http://schemas.microsoft.com/office/drawing/2014/main" id="{EA6520A4-FA59-7DC7-F3B8-64975A80280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73404"/>
            <a:ext cx="15335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7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07F8-5C4E-362D-E360-AF1DEA1B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table listing students' IDs, names, branches, years, and attendance status, including their presence in a class.&#10;&#10;AI-generated content may be incorrect.">
            <a:extLst>
              <a:ext uri="{FF2B5EF4-FFF2-40B4-BE49-F238E27FC236}">
                <a16:creationId xmlns:a16="http://schemas.microsoft.com/office/drawing/2014/main" id="{4C89C1CC-A30E-DF18-F55A-0AD0A2C5C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7848600" cy="4616404"/>
          </a:xfrm>
          <a:prstGeom prst="rect">
            <a:avLst/>
          </a:prstGeom>
        </p:spPr>
      </p:pic>
      <p:pic>
        <p:nvPicPr>
          <p:cNvPr id="7" name="Picture 6" descr="Student Table - Example Records.&#10;&#10;AI-generated content may be incorrect.">
            <a:extLst>
              <a:ext uri="{FF2B5EF4-FFF2-40B4-BE49-F238E27FC236}">
                <a16:creationId xmlns:a16="http://schemas.microsoft.com/office/drawing/2014/main" id="{F0813AB2-384C-5C5E-C3CD-E9050BE1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4800"/>
            <a:ext cx="5303980" cy="1036410"/>
          </a:xfrm>
          <a:prstGeom prst="rect">
            <a:avLst/>
          </a:prstGeom>
        </p:spPr>
      </p:pic>
      <p:pic>
        <p:nvPicPr>
          <p:cNvPr id="9" name="object 7" descr="d29fed93-76c3-4798-81b8-a81e8a8402fd.png">
            <a:extLst>
              <a:ext uri="{FF2B5EF4-FFF2-40B4-BE49-F238E27FC236}">
                <a16:creationId xmlns:a16="http://schemas.microsoft.com/office/drawing/2014/main" id="{2B840879-C98B-AC20-F0CD-B572D7E9A6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73404"/>
            <a:ext cx="15335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63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image depicts a user interface for a Smart Attendance System, featuring options to register students, capture and recognize faces, and an admin panel ready for attendance status.&#10;&#10;AI-generated content may be incorrect.">
            <a:extLst>
              <a:ext uri="{FF2B5EF4-FFF2-40B4-BE49-F238E27FC236}">
                <a16:creationId xmlns:a16="http://schemas.microsoft.com/office/drawing/2014/main" id="{0FA87C1B-AA7F-295E-A943-1BF1B80A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8047417" cy="5082980"/>
          </a:xfrm>
          <a:prstGeom prst="rect">
            <a:avLst/>
          </a:prstGeom>
        </p:spPr>
      </p:pic>
      <p:pic>
        <p:nvPicPr>
          <p:cNvPr id="8" name="Picture 7" descr="APPLICATION INTERFACE (MOCK-UP)&#10;&#10;AI-generated content may be incorrect.">
            <a:extLst>
              <a:ext uri="{FF2B5EF4-FFF2-40B4-BE49-F238E27FC236}">
                <a16:creationId xmlns:a16="http://schemas.microsoft.com/office/drawing/2014/main" id="{DD83745B-4D67-AA92-3D7E-0BD1AB004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1000"/>
            <a:ext cx="6370872" cy="548688"/>
          </a:xfrm>
          <a:prstGeom prst="rect">
            <a:avLst/>
          </a:prstGeom>
        </p:spPr>
      </p:pic>
      <p:pic>
        <p:nvPicPr>
          <p:cNvPr id="10" name="object 7" descr="d29fed93-76c3-4798-81b8-a81e8a8402fd.png">
            <a:extLst>
              <a:ext uri="{FF2B5EF4-FFF2-40B4-BE49-F238E27FC236}">
                <a16:creationId xmlns:a16="http://schemas.microsoft.com/office/drawing/2014/main" id="{438C81A2-1435-4932-F56E-A24182391E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9400" y="173404"/>
            <a:ext cx="15335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332384"/>
            <a:ext cx="379158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RESULTS</a:t>
            </a:r>
            <a:r>
              <a:rPr spc="-70" dirty="0"/>
              <a:t> </a:t>
            </a:r>
            <a:r>
              <a:rPr dirty="0"/>
              <a:t>/</a:t>
            </a:r>
            <a:r>
              <a:rPr spc="-80" dirty="0"/>
              <a:t> </a:t>
            </a:r>
            <a:r>
              <a:rPr spc="-10" dirty="0"/>
              <a:t>PROTOTYPE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892175"/>
            <a:ext cx="720090" cy="120650"/>
            <a:chOff x="704675" y="789717"/>
            <a:chExt cx="720090" cy="120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9875" y="142875"/>
            <a:ext cx="1600200" cy="1619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2000" y="1447800"/>
            <a:ext cx="94488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 Prototype Overview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Developed a desktop-based Smart Attendance System using Python.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Created a graphical user interface using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Integrated webcam-based face detection using OpenCV.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Connected an SQLite database to store student and attendance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Key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Student registration and face capture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Face recognition interface for identifying registered students.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Attendance records stored with date and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Admin panel for managing and viewing attendance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Reduced the need for manual attendance entry.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13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179021"/>
            <a:ext cx="9335770" cy="711517"/>
          </a:xfrm>
          <a:prstGeom prst="rect">
            <a:avLst/>
          </a:prstGeom>
        </p:spPr>
        <p:txBody>
          <a:bodyPr vert="horz" wrap="square" lIns="0" tIns="1000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INNOVATION,</a:t>
            </a:r>
            <a:r>
              <a:rPr spc="-105" dirty="0"/>
              <a:t> </a:t>
            </a:r>
            <a:r>
              <a:rPr spc="-70" dirty="0"/>
              <a:t>IMPACT,</a:t>
            </a:r>
            <a:r>
              <a:rPr spc="-40" dirty="0"/>
              <a:t> </a:t>
            </a:r>
            <a:r>
              <a:rPr spc="-10" dirty="0"/>
              <a:t>DELIVERABLES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dirty="0"/>
              <a:t>FUTURE</a:t>
            </a:r>
            <a:r>
              <a:rPr spc="-35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4675" y="789717"/>
            <a:ext cx="720090" cy="120650"/>
            <a:chOff x="704675" y="789717"/>
            <a:chExt cx="720090" cy="120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325" y="180975"/>
            <a:ext cx="1457325" cy="14668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906" y="2779835"/>
            <a:ext cx="103187" cy="938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3400" y="1371600"/>
            <a:ext cx="10594975" cy="36918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800735" indent="-343535">
              <a:lnSpc>
                <a:spcPts val="2860"/>
              </a:lnSpc>
              <a:spcBef>
                <a:spcPts val="2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Innovation: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vision,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database-</a:t>
            </a:r>
            <a:r>
              <a:rPr sz="2400" spc="-10" dirty="0">
                <a:latin typeface="Calibri"/>
                <a:cs typeface="Calibri"/>
              </a:rPr>
              <a:t>based attendance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workflow</a:t>
            </a:r>
            <a:endParaRPr sz="2400" dirty="0">
              <a:latin typeface="Calibri"/>
              <a:cs typeface="Calibri"/>
            </a:endParaRPr>
          </a:p>
          <a:p>
            <a:pPr marL="355600" marR="203835" indent="-343535">
              <a:lnSpc>
                <a:spcPts val="2860"/>
              </a:lnSpc>
              <a:spcBef>
                <a:spcPts val="6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Impact: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reduces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paperwork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improving </a:t>
            </a:r>
            <a:r>
              <a:rPr sz="2400" dirty="0">
                <a:latin typeface="Calibri"/>
                <a:cs typeface="Calibri"/>
              </a:rPr>
              <a:t>classroom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2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Deliverables: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model/encodings,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GUI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ts val="2855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reports</a:t>
            </a:r>
            <a:endParaRPr sz="2400" dirty="0">
              <a:latin typeface="Calibri"/>
              <a:cs typeface="Calibri"/>
            </a:endParaRPr>
          </a:p>
          <a:p>
            <a:pPr marL="355600" marR="597535" indent="-343535">
              <a:lnSpc>
                <a:spcPts val="2930"/>
              </a:lnSpc>
              <a:spcBef>
                <a:spcPts val="4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Applications: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universities,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corporate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offices,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government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institutions, </a:t>
            </a:r>
            <a:r>
              <a:rPr sz="2400" dirty="0">
                <a:latin typeface="Calibri"/>
                <a:cs typeface="Calibri"/>
              </a:rPr>
              <a:t>hospitals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centers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745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Future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cloud-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attendance,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application, </a:t>
            </a:r>
            <a:r>
              <a:rPr sz="2400" dirty="0">
                <a:latin typeface="Calibri"/>
                <a:cs typeface="Calibri"/>
              </a:rPr>
              <a:t>RFID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recognition,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dashboard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450"/>
              </a:lnSpc>
            </a:pPr>
            <a:r>
              <a:rPr dirty="0"/>
              <a:t>Slide</a:t>
            </a:r>
            <a:r>
              <a:rPr spc="20" dirty="0"/>
              <a:t> </a:t>
            </a:r>
            <a:fld id="{81D60167-4931-47E6-BA6A-407CBD079E47}" type="slidenum">
              <a:rPr dirty="0"/>
              <a:t>14</a:t>
            </a:fld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325829"/>
            <a:ext cx="9335770" cy="711517"/>
          </a:xfrm>
          <a:prstGeom prst="rect">
            <a:avLst/>
          </a:prstGeom>
        </p:spPr>
        <p:txBody>
          <a:bodyPr vert="horz" wrap="square" lIns="0" tIns="9880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CONCLUSION</a:t>
            </a:r>
            <a:r>
              <a:rPr spc="-6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1005319"/>
            <a:ext cx="720090" cy="120650"/>
            <a:chOff x="704675" y="789717"/>
            <a:chExt cx="720090" cy="120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675" y="789717"/>
              <a:ext cx="719485" cy="1203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65722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657225" y="47625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EE5F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8187" y="804925"/>
              <a:ext cx="657225" cy="47625"/>
            </a:xfrm>
            <a:custGeom>
              <a:avLst/>
              <a:gdLst/>
              <a:ahLst/>
              <a:cxnLst/>
              <a:rect l="l" t="t" r="r" b="b"/>
              <a:pathLst>
                <a:path w="657225" h="47625">
                  <a:moveTo>
                    <a:pt x="0" y="47625"/>
                  </a:moveTo>
                  <a:lnTo>
                    <a:pt x="657225" y="47625"/>
                  </a:lnTo>
                  <a:lnTo>
                    <a:pt x="657225" y="0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ln w="9525">
              <a:solidFill>
                <a:srgbClr val="EE5F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 descr="d29fed93-76c3-4798-81b8-a81e8a8402f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50" y="180975"/>
            <a:ext cx="1428750" cy="14478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Conclusion:</a:t>
            </a:r>
            <a:r>
              <a:rPr spc="-6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Smart</a:t>
            </a:r>
            <a:r>
              <a:rPr spc="-70" dirty="0"/>
              <a:t> </a:t>
            </a:r>
            <a:r>
              <a:rPr spc="-20" dirty="0"/>
              <a:t>Attendance</a:t>
            </a:r>
            <a:r>
              <a:rPr spc="-80" dirty="0"/>
              <a:t> </a:t>
            </a:r>
            <a:r>
              <a:rPr dirty="0"/>
              <a:t>System</a:t>
            </a:r>
            <a:r>
              <a:rPr spc="-50" dirty="0"/>
              <a:t> </a:t>
            </a:r>
            <a:r>
              <a:rPr dirty="0"/>
              <a:t>provides</a:t>
            </a:r>
            <a:r>
              <a:rPr spc="-55" dirty="0"/>
              <a:t> </a:t>
            </a:r>
            <a:r>
              <a:rPr dirty="0"/>
              <a:t>an</a:t>
            </a:r>
            <a:r>
              <a:rPr spc="-70" dirty="0"/>
              <a:t> </a:t>
            </a:r>
            <a:r>
              <a:rPr spc="-10" dirty="0"/>
              <a:t>efficient,</a:t>
            </a:r>
            <a:r>
              <a:rPr spc="-85" dirty="0"/>
              <a:t> </a:t>
            </a:r>
            <a:r>
              <a:rPr dirty="0"/>
              <a:t>secure</a:t>
            </a:r>
            <a:r>
              <a:rPr spc="-85" dirty="0"/>
              <a:t> </a:t>
            </a:r>
            <a:r>
              <a:rPr spc="-25" dirty="0"/>
              <a:t>and</a:t>
            </a:r>
          </a:p>
          <a:p>
            <a:pPr marL="355600">
              <a:lnSpc>
                <a:spcPts val="2865"/>
              </a:lnSpc>
            </a:pPr>
            <a:r>
              <a:rPr spc="-10" dirty="0"/>
              <a:t>automated</a:t>
            </a:r>
            <a:r>
              <a:rPr spc="-55" dirty="0"/>
              <a:t> </a:t>
            </a:r>
            <a:r>
              <a:rPr dirty="0"/>
              <a:t>approach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attendance</a:t>
            </a:r>
            <a:r>
              <a:rPr spc="-65" dirty="0"/>
              <a:t> </a:t>
            </a:r>
            <a:r>
              <a:rPr spc="-10" dirty="0"/>
              <a:t>management</a:t>
            </a:r>
          </a:p>
          <a:p>
            <a:pPr marL="355600" indent="-342900">
              <a:lnSpc>
                <a:spcPts val="2865"/>
              </a:lnSpc>
              <a:spcBef>
                <a:spcPts val="5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Facial</a:t>
            </a:r>
            <a:r>
              <a:rPr spc="-55" dirty="0"/>
              <a:t> </a:t>
            </a:r>
            <a:r>
              <a:rPr dirty="0"/>
              <a:t>recognition</a:t>
            </a:r>
            <a:r>
              <a:rPr spc="-75" dirty="0"/>
              <a:t> </a:t>
            </a:r>
            <a:r>
              <a:rPr spc="-10" dirty="0"/>
              <a:t>minimizes</a:t>
            </a:r>
            <a:r>
              <a:rPr spc="-55" dirty="0"/>
              <a:t> </a:t>
            </a:r>
            <a:r>
              <a:rPr dirty="0"/>
              <a:t>manual</a:t>
            </a:r>
            <a:r>
              <a:rPr spc="-114" dirty="0"/>
              <a:t> </a:t>
            </a:r>
            <a:r>
              <a:rPr dirty="0"/>
              <a:t>effort</a:t>
            </a:r>
            <a:r>
              <a:rPr spc="-7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helps</a:t>
            </a:r>
            <a:r>
              <a:rPr spc="-125" dirty="0"/>
              <a:t> </a:t>
            </a:r>
            <a:r>
              <a:rPr spc="-10" dirty="0"/>
              <a:t>prevent</a:t>
            </a:r>
            <a:r>
              <a:rPr spc="-70" dirty="0"/>
              <a:t> </a:t>
            </a:r>
            <a:r>
              <a:rPr spc="-10" dirty="0"/>
              <a:t>proxy</a:t>
            </a:r>
            <a:r>
              <a:rPr spc="-125" dirty="0"/>
              <a:t> </a:t>
            </a:r>
            <a:r>
              <a:rPr spc="-10" dirty="0"/>
              <a:t>attendance</a:t>
            </a:r>
          </a:p>
          <a:p>
            <a:pPr marL="355600" marR="845819" indent="-343535">
              <a:lnSpc>
                <a:spcPts val="2930"/>
              </a:lnSpc>
              <a:spcBef>
                <a:spcPts val="4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system</a:t>
            </a:r>
            <a:r>
              <a:rPr spc="-35" dirty="0"/>
              <a:t> </a:t>
            </a:r>
            <a:r>
              <a:rPr dirty="0"/>
              <a:t>maintains</a:t>
            </a:r>
            <a:r>
              <a:rPr spc="-45" dirty="0"/>
              <a:t> </a:t>
            </a:r>
            <a:r>
              <a:rPr spc="-10" dirty="0"/>
              <a:t>accurate</a:t>
            </a:r>
            <a:r>
              <a:rPr spc="-65" dirty="0"/>
              <a:t> </a:t>
            </a:r>
            <a:r>
              <a:rPr spc="-10" dirty="0"/>
              <a:t>records</a:t>
            </a:r>
            <a:r>
              <a:rPr spc="-11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supports</a:t>
            </a:r>
            <a:r>
              <a:rPr spc="-40" dirty="0"/>
              <a:t> </a:t>
            </a:r>
            <a:r>
              <a:rPr spc="-10" dirty="0"/>
              <a:t>automatic</a:t>
            </a:r>
            <a:r>
              <a:rPr spc="-105" dirty="0"/>
              <a:t> </a:t>
            </a:r>
            <a:r>
              <a:rPr spc="-10" dirty="0"/>
              <a:t>attendance reporting</a:t>
            </a:r>
          </a:p>
          <a:p>
            <a:pPr marL="355600" indent="-342900">
              <a:lnSpc>
                <a:spcPts val="2735"/>
              </a:lnSpc>
              <a:buFont typeface="Arial"/>
              <a:buChar char="•"/>
              <a:tabLst>
                <a:tab pos="355600" algn="l"/>
              </a:tabLst>
            </a:pPr>
            <a:r>
              <a:rPr spc="-25" dirty="0"/>
              <a:t>Technologies:</a:t>
            </a:r>
            <a:r>
              <a:rPr spc="-110" dirty="0"/>
              <a:t> </a:t>
            </a:r>
            <a:r>
              <a:rPr dirty="0"/>
              <a:t>Python,</a:t>
            </a:r>
            <a:r>
              <a:rPr spc="-80" dirty="0"/>
              <a:t> </a:t>
            </a:r>
            <a:r>
              <a:rPr spc="-20" dirty="0"/>
              <a:t>OpenCV,</a:t>
            </a:r>
            <a:r>
              <a:rPr spc="-75" dirty="0"/>
              <a:t> </a:t>
            </a:r>
            <a:r>
              <a:rPr dirty="0"/>
              <a:t>Face </a:t>
            </a:r>
            <a:r>
              <a:rPr spc="-10" dirty="0"/>
              <a:t>Recognition,</a:t>
            </a:r>
            <a:r>
              <a:rPr spc="-75" dirty="0"/>
              <a:t> </a:t>
            </a:r>
            <a:r>
              <a:rPr spc="-20" dirty="0"/>
              <a:t>NumPy,</a:t>
            </a:r>
            <a:r>
              <a:rPr spc="-75" dirty="0"/>
              <a:t> </a:t>
            </a:r>
            <a:r>
              <a:rPr dirty="0"/>
              <a:t>Pandas,</a:t>
            </a:r>
            <a:r>
              <a:rPr spc="-75" dirty="0"/>
              <a:t> </a:t>
            </a:r>
            <a:r>
              <a:rPr spc="-10" dirty="0"/>
              <a:t>SQLite/MySQL</a:t>
            </a:r>
          </a:p>
          <a:p>
            <a:pPr marL="355600">
              <a:lnSpc>
                <a:spcPts val="2865"/>
              </a:lnSpc>
            </a:pP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Tkinter</a:t>
            </a:r>
          </a:p>
          <a:p>
            <a:pPr marL="355600" indent="-342900">
              <a:lnSpc>
                <a:spcPts val="2865"/>
              </a:lnSpc>
              <a:spcBef>
                <a:spcPts val="50"/>
              </a:spcBef>
              <a:buFont typeface="Arial"/>
              <a:buChar char="•"/>
              <a:tabLst>
                <a:tab pos="355600" algn="l"/>
              </a:tabLst>
            </a:pPr>
            <a:r>
              <a:rPr spc="-20" dirty="0"/>
              <a:t>References: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Synopsis</a:t>
            </a:r>
            <a:r>
              <a:rPr spc="-7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Smart</a:t>
            </a:r>
            <a:r>
              <a:rPr spc="-55" dirty="0"/>
              <a:t> </a:t>
            </a:r>
            <a:r>
              <a:rPr spc="-25" dirty="0"/>
              <a:t>Attendance</a:t>
            </a:r>
            <a:r>
              <a:rPr spc="-70" dirty="0"/>
              <a:t> </a:t>
            </a:r>
            <a:r>
              <a:rPr dirty="0"/>
              <a:t>System</a:t>
            </a:r>
            <a:r>
              <a:rPr spc="-45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Face</a:t>
            </a:r>
            <a:r>
              <a:rPr spc="-70" dirty="0"/>
              <a:t> </a:t>
            </a:r>
            <a:r>
              <a:rPr spc="-10" dirty="0"/>
              <a:t>Recognition;</a:t>
            </a:r>
          </a:p>
          <a:p>
            <a:pPr marL="355600">
              <a:lnSpc>
                <a:spcPts val="2865"/>
              </a:lnSpc>
            </a:pPr>
            <a:r>
              <a:rPr dirty="0"/>
              <a:t>OpenCV</a:t>
            </a:r>
            <a:r>
              <a:rPr spc="-9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20" dirty="0"/>
              <a:t>face-</a:t>
            </a:r>
            <a:r>
              <a:rPr dirty="0"/>
              <a:t>recognition</a:t>
            </a:r>
            <a:r>
              <a:rPr spc="-70" dirty="0"/>
              <a:t> </a:t>
            </a:r>
            <a:r>
              <a:rPr dirty="0"/>
              <a:t>technology</a:t>
            </a:r>
            <a:r>
              <a:rPr spc="-50" dirty="0"/>
              <a:t> </a:t>
            </a:r>
            <a:r>
              <a:rPr spc="-10" dirty="0"/>
              <a:t>documentation;</a:t>
            </a:r>
            <a:r>
              <a:rPr spc="-55" dirty="0"/>
              <a:t> </a:t>
            </a:r>
            <a:r>
              <a:rPr dirty="0"/>
              <a:t>Python</a:t>
            </a:r>
            <a:r>
              <a:rPr spc="-75" dirty="0"/>
              <a:t> </a:t>
            </a:r>
            <a:r>
              <a:rPr spc="-10" dirty="0"/>
              <a:t>ecosystem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5697" y="5252481"/>
            <a:ext cx="192087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10" dirty="0">
                <a:latin typeface="Calibri"/>
                <a:cs typeface="Calibri"/>
              </a:rPr>
              <a:t>documentation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36854" y="6694249"/>
            <a:ext cx="1245235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20" dirty="0"/>
              <a:t>24 October </a:t>
            </a:r>
            <a:r>
              <a:rPr spc="-20" dirty="0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Slide</a:t>
            </a:r>
            <a:r>
              <a:rPr spc="25" dirty="0"/>
              <a:t> </a:t>
            </a:r>
            <a:fld id="{81D60167-4931-47E6-BA6A-407CBD079E47}" type="slidenum">
              <a:rPr dirty="0"/>
              <a:t>15</a:t>
            </a:fld>
            <a:r>
              <a:rPr spc="1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867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TITLE Smart Attendance System Using Face Recognition</vt:lpstr>
      <vt:lpstr>PROBLEM STATEMENT</vt:lpstr>
      <vt:lpstr>EXISTING SOLUTION / LITERATURE REVIEW</vt:lpstr>
      <vt:lpstr>PROPOSED SOLUTION</vt:lpstr>
      <vt:lpstr>OBJECTIVES</vt:lpstr>
      <vt:lpstr>       SYSTEM ARCHITECTURE / METHODOLOGY</vt:lpstr>
      <vt:lpstr>     IMPLEMENTATION</vt:lpstr>
      <vt:lpstr>     IMPLEMENTATION</vt:lpstr>
      <vt:lpstr>PowerPoint Presentation</vt:lpstr>
      <vt:lpstr>PowerPoint Presentation</vt:lpstr>
      <vt:lpstr>PowerPoint Presentation</vt:lpstr>
      <vt:lpstr>PowerPoint Presentation</vt:lpstr>
      <vt:lpstr>RESULTS / PROTOTYPE</vt:lpstr>
      <vt:lpstr>INNOVATION, IMPACT, DELIVERABLES &amp; FUTURE SCOPE</vt:lpstr>
      <vt:lpstr>CONCLUSION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Dhanshree</dc:creator>
  <cp:lastModifiedBy>DHANSHREE THELKAR</cp:lastModifiedBy>
  <cp:revision>1</cp:revision>
  <dcterms:created xsi:type="dcterms:W3CDTF">2026-10-23T20:21:18Z</dcterms:created>
  <dcterms:modified xsi:type="dcterms:W3CDTF">2026-10-23T20:55:46Z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2026-09-04T00:00:00Z</vt:filetime>
  </property>
  <property fmtid="{D5CDD505-2E9C-101B-9397-08002B2CF9AE}" pid="4" name="LastSaved">
    <vt:filetime>2026-10-23T00:00:00Z</vt:filetime>
  </property>
</Properties>
</file>